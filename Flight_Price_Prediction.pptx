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FAD-4FF6-BE7F-CD54BC949B07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AD-4FF6-BE7F-CD54BC949B07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AD-4FF6-BE7F-CD54BC949B07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FAD-4FF6-BE7F-CD54BC949B07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FAD-4FF6-BE7F-CD54BC949B07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FAD-4FF6-BE7F-CD54BC949B07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FAD-4FF6-BE7F-CD54BC949B07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FAD-4FF6-BE7F-CD54BC949B07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FAD-4FF6-BE7F-CD54BC949B0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Poppi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XGBoost</c:v>
                </c:pt>
                <c:pt idx="1">
                  <c:v>LightGBM</c:v>
                </c:pt>
                <c:pt idx="2">
                  <c:v>Random
Forest</c:v>
                </c:pt>
                <c:pt idx="3">
                  <c:v>Gradient
Boosting</c:v>
                </c:pt>
                <c:pt idx="4">
                  <c:v>Decision
Tree</c:v>
                </c:pt>
                <c:pt idx="5">
                  <c:v>Linear
Regression</c:v>
                </c:pt>
                <c:pt idx="6">
                  <c:v>KNN</c:v>
                </c:pt>
                <c:pt idx="7">
                  <c:v>AdaBoost</c:v>
                </c:pt>
                <c:pt idx="8">
                  <c:v>SVR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0.84599999999999997</c:v>
                </c:pt>
                <c:pt idx="1">
                  <c:v>0.82599999999999996</c:v>
                </c:pt>
                <c:pt idx="2">
                  <c:v>0.79800000000000004</c:v>
                </c:pt>
                <c:pt idx="3">
                  <c:v>0.78600000000000003</c:v>
                </c:pt>
                <c:pt idx="4">
                  <c:v>0.72499999999999998</c:v>
                </c:pt>
                <c:pt idx="5">
                  <c:v>0.62</c:v>
                </c:pt>
                <c:pt idx="6">
                  <c:v>0.57599999999999996</c:v>
                </c:pt>
                <c:pt idx="7">
                  <c:v>0.52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FAD-4FF6-BE7F-CD54BC949B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4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F6FE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4572000" cy="4572000"/>
          </a:xfrm>
          <a:prstGeom prst="ellipse">
            <a:avLst/>
          </a:prstGeom>
          <a:solidFill>
            <a:srgbClr val="4FACFE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✈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end-to-end machine learning project — from raw data to a deployed prediction 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EDA  •  Model Comparison  •  Hyperparameter Tuning  •  MLflow Tracking  •  Streamlit 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1755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21214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we're predicting and why it's a regression problem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223760" y="1755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&amp; EDA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0" y="21214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Cleaning, parsing, and feature engineering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91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1640" y="3264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Comparison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91640" y="36301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algorithms benchmarked on the same split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306324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291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23760" y="3264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Hyperparameter Tuning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0" y="36301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RandomizedSearchCV across top candidates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00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91640" y="47731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Experiment Tracking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51389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MLflow for reproducible, comparable runs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45720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800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23760" y="47731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App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23760" y="51389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live Streamlit interface serving the final model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prices vary constantly with airline, route, timing, and stopovers. Given a flight's booking details, predict its ticket price in ₹ — a supervised regression task.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999232"/>
            <a:ext cx="109728" cy="10972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443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Airline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9728" cy="10972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284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&amp; Destination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67328"/>
            <a:ext cx="109728" cy="10972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124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Departure / Arrival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151376"/>
            <a:ext cx="109728" cy="10972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965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Journey 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35424"/>
            <a:ext cx="109728" cy="10972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stops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3492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534924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61488" y="5349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53492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0288" y="534924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2896" y="5349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53492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11696" y="534924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04304" y="5349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04304" y="53492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Tune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33104" y="534924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25712" y="5349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25712" y="53492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 (₹)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965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&amp; EDA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Kaggle Flight Fare Prediction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10,683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404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2,671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404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404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16916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2404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ENGINEERING STEPS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 parsing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39959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Date_of_Journey → journey_day, journey_month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611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parsing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39959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Dep_Time / Arrival_Time → hour &amp; minute columns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507992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99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Duration parsing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4892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Irregular text ("2h 50m", "19h", "5m") → numeric hours &amp; minutes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4507992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599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Stops encoding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4892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"non-stop", "1 stop"... → numeric Total_Stops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40410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4955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Categorical encoding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2960" y="57881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One-hot encoding for Airline, Source, Destination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540410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54955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selection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46520" y="57881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ExtraTreesRegressor used to rank &amp; validate feature importance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R² score — 10 regression models, default hyperparameters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1106424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metrics, default hyperparameters, sorted by Test R²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Train R²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 R²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RMSE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XGBoost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0.937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0.846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1822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1127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LightGBM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0.873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0.826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1938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1243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Random Forest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0.953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0.798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2089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1176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Gradient Boosting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0.783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0.786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2150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1528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Decision Tree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0.969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0.725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2437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1336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Linear Regression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0.624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0.620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2864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1973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KNN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0.736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0.576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3025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1874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AdaBoost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0.524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0.520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3217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2460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SVR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0.003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-0.000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4644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3566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XGBoost delivers the strongest out-of-the-box Test R² — selected for hyperparameter tuning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Hyperparameter Tuning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RandomizedSearchCV — 5-fold cross-validation, top 6 candidates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2870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CV R²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Train R²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 R²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RMSE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Gradient Boosting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0.821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0.902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0.838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1870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1220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XGBoost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0.831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0.927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0.832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1903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6FE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1149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LightGBM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0.816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0.899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0.826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1935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1177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Random Forest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0.794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0.868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0.817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1985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1304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Decision Tree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0.784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0.883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0.779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2181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1234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AdaBoost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0.544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0.555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0.523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3206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2250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7492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EAF2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193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choice: XGBoost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55595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cross-validated stability (0.831 CV R²) combined with the lowest MAE (₹1,149) among top performers — and needed no extra preprocessing to serve.</a:t>
            </a:r>
            <a:endParaRPr lang="en-US" sz="1150" dirty="0"/>
          </a:p>
        </p:txBody>
      </p:sp>
      <p:sp>
        <p:nvSpPr>
          <p:cNvPr id="4" name="Text 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Explainability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Validating the model with SHAP (TreeExplainer)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SHAP values confirm the model is learning sensible, domain-consistent signals — not spurious correlations — which builds confidence before deployment.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1363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3924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Longer flights generally command higher fares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136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Stops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1696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Non-stop flights price differently than multi-stop routes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6908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Airline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9469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Premium carriers shift price predictions upward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RELATIVE FEATURE IMPORTANCE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441448"/>
            <a:ext cx="420624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441448"/>
            <a:ext cx="4206240" cy="201168"/>
          </a:xfrm>
          <a:prstGeom prst="roundRect">
            <a:avLst>
              <a:gd name="adj" fmla="val 18182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Stops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3127248"/>
            <a:ext cx="420624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127248"/>
            <a:ext cx="3481026" cy="201168"/>
          </a:xfrm>
          <a:prstGeom prst="roundRect">
            <a:avLst>
              <a:gd name="adj" fmla="val 18182"/>
            </a:avLst>
          </a:prstGeom>
          <a:solidFill>
            <a:srgbClr val="4FACF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Airline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3813048"/>
            <a:ext cx="420624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3813048"/>
            <a:ext cx="2755812" cy="201168"/>
          </a:xfrm>
          <a:prstGeom prst="roundRect">
            <a:avLst>
              <a:gd name="adj" fmla="val 18182"/>
            </a:avLst>
          </a:prstGeom>
          <a:solidFill>
            <a:srgbClr val="4FACF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Journey Month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4498848"/>
            <a:ext cx="420624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4498848"/>
            <a:ext cx="2030599" cy="201168"/>
          </a:xfrm>
          <a:prstGeom prst="roundRect">
            <a:avLst>
              <a:gd name="adj" fmla="val 18182"/>
            </a:avLst>
          </a:prstGeom>
          <a:solidFill>
            <a:srgbClr val="4FACF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Dep. Hour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5184648"/>
            <a:ext cx="420624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0" y="5184648"/>
            <a:ext cx="1305385" cy="201168"/>
          </a:xfrm>
          <a:prstGeom prst="roundRect">
            <a:avLst>
              <a:gd name="adj" fmla="val 18182"/>
            </a:avLst>
          </a:prstGeom>
          <a:solidFill>
            <a:srgbClr val="4FACF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Experiment Tracking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run logged and comparable with MLflow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128016" cy="128016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Hyperparameters for every RandomizedSearchCV run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40864"/>
            <a:ext cx="128016" cy="128016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 / Test R², RMSE, MAE per model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43784"/>
            <a:ext cx="128016" cy="128016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artifacts — routed to the correct MLflow flavor (xgboost / lightgbm / sklearn)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128016" cy="128016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Cross-validated best score for direct model-to-model comparison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 ui --port 5000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Launches a local dashboard to compare all 9 model runs side by side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0116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Experiment: Flight_Fare_Prediction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0" y="2560320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56032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149840" y="269748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378440" y="256032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0.832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3090672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09067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49840" y="322783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378440" y="30906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0.838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3621024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62102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LightGBM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149840" y="375818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378440" y="36210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0.826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4151376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15137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149840" y="4288536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10378440" y="415137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0.817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4681728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46817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149840" y="481888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10378440" y="468172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0.779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0" y="5212080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21208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AdaBoost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149840" y="534924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10378440" y="521208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0.523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live prediction interface built with Streamlit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F5F7FA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035040" cy="365760"/>
          </a:xfrm>
          <a:prstGeom prst="roundRect">
            <a:avLst>
              <a:gd name="adj" fmla="val 30000"/>
            </a:avLst>
          </a:prstGeom>
          <a:solidFill>
            <a:srgbClr val="E9EDF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10512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810512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810512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✈️ Flight Price Predictor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an instant price estimate for your next flight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315468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🛫 Departure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43000" y="3630168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630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Departure Date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43000" y="4032504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0325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Departure Time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43000" y="4434840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4348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City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143000" y="4837176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8371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Airline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49040" y="315468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🛬 Arrival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86200" y="3630168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3630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Arrival Date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86200" y="4032504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40325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Arrival Time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86200" y="4434840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44348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Destination City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86200" y="4837176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48371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Stops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05840" y="548640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1F6FEB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5486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 Price 🔍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219456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2286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Responsive two-column form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25786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Departure details left, arrival details right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9440" y="315468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32461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inference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35387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 model (model.ubj) loaded once via @st.cache_resource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49440" y="41148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4206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Styled result card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32320" y="44988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Gradient card surfaces the predicted fare clearly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9440" y="50749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5166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Encoding handled server-side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132320" y="54589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one-hot logic mirrors the training pipeline exactly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 used across the ML lifecycle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F6FE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2606040" cy="32004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&amp; EDA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22402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310128"/>
            <a:ext cx="22402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1012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numpy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877056"/>
            <a:ext cx="22402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7705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seaborn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443984"/>
            <a:ext cx="22402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43984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matplotlib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47288" y="178308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47288" y="17830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F6FEB"/>
          </a:solidFill>
          <a:ln/>
        </p:spPr>
      </p:sp>
      <p:sp>
        <p:nvSpPr>
          <p:cNvPr id="18" name="Shape 16"/>
          <p:cNvSpPr/>
          <p:nvPr/>
        </p:nvSpPr>
        <p:spPr>
          <a:xfrm>
            <a:off x="3447288" y="2148840"/>
            <a:ext cx="2606040" cy="32004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17830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30168" y="2743200"/>
            <a:ext cx="22402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27432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30168" y="3310128"/>
            <a:ext cx="22402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331012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30168" y="3877056"/>
            <a:ext cx="22402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387705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lightgbm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54496" y="178308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17830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F6FEB"/>
          </a:solidFill>
          <a:ln/>
        </p:spPr>
      </p:sp>
      <p:sp>
        <p:nvSpPr>
          <p:cNvPr id="28" name="Shape 26"/>
          <p:cNvSpPr/>
          <p:nvPr/>
        </p:nvSpPr>
        <p:spPr>
          <a:xfrm>
            <a:off x="6254496" y="2148840"/>
            <a:ext cx="2606040" cy="32004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9" name="Text 27"/>
          <p:cNvSpPr/>
          <p:nvPr/>
        </p:nvSpPr>
        <p:spPr>
          <a:xfrm>
            <a:off x="6391656" y="17830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Tracking &amp; Explainability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37376" y="2743200"/>
            <a:ext cx="22402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27432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mlflow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37376" y="3310128"/>
            <a:ext cx="22402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331012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61704" y="178308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61704" y="17830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F6FEB"/>
          </a:solidFill>
          <a:ln/>
        </p:spPr>
      </p:sp>
      <p:sp>
        <p:nvSpPr>
          <p:cNvPr id="36" name="Shape 34"/>
          <p:cNvSpPr/>
          <p:nvPr/>
        </p:nvSpPr>
        <p:spPr>
          <a:xfrm>
            <a:off x="9061704" y="2148840"/>
            <a:ext cx="2606040" cy="32004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7" name="Text 35"/>
          <p:cNvSpPr/>
          <p:nvPr/>
        </p:nvSpPr>
        <p:spPr>
          <a:xfrm>
            <a:off x="9198864" y="17830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&amp; Serving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244584" y="2743200"/>
            <a:ext cx="22402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44584" y="27432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Model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Tuned XGBoost — selected for production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0.83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R²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78308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2011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₹1,903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20624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RMSE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178308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011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₹1,149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77240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6F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15384"/>
            <a:ext cx="109728" cy="10972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3308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Replace manual one-hot encoding with a saved encoder + feature-column pipeline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109728" cy="10972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720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 overnight-flight duration calc using full datetime differences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093208"/>
            <a:ext cx="109728" cy="10972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1091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 the model in MLflow's Model Registry with staged promotion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109728" cy="10972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44982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 datasets with DVC via DagsHub for reproducibility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971032"/>
            <a:ext cx="109728" cy="10972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88873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Containerize with Docker and deploy to the cloud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F6FEB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4FACF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Flight Price Prediction — an end-to-end ML deployment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Gitub</a:t>
            </a:r>
            <a:r>
              <a:rPr lang="en-US" sz="13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• </a:t>
            </a:r>
            <a:r>
              <a:rPr lang="en-US" sz="1300" b="1" dirty="0" err="1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MFaridKhan</a:t>
            </a:r>
            <a:endParaRPr lang="en-US" sz="1300" b="1" dirty="0">
              <a:solidFill>
                <a:srgbClr val="4FACFE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LinkedIn  •  </a:t>
            </a:r>
            <a:r>
              <a:rPr lang="en-US" sz="1300" b="1">
                <a:solidFill>
                  <a:srgbClr val="4FAC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Muhammad Farid Khan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870</Words>
  <Application>Microsoft Office PowerPoint</Application>
  <PresentationFormat>Widescreen</PresentationFormat>
  <Paragraphs>298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</cp:lastModifiedBy>
  <cp:revision>2</cp:revision>
  <dcterms:created xsi:type="dcterms:W3CDTF">2026-08-16T09:48:29Z</dcterms:created>
  <dcterms:modified xsi:type="dcterms:W3CDTF">2026-08-16T10:00:45Z</dcterms:modified>
</cp:coreProperties>
</file>